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CDD9E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CDD9E5"/>
                </a:solidFill>
                <a:latin typeface="Arial"/>
              </a:rPr>
              <a:t>Model Accuracy Comparison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F78C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Naive Bayes</c:v>
                  </c:pt>
                  <c:pt idx="1">
                    <c:v>Logistic Reg.</c:v>
                  </c:pt>
                  <c:pt idx="2">
                    <c:v>Random Forest</c:v>
                  </c:pt>
                  <c:pt idx="3">
                    <c:v>XGBoost</c:v>
                  </c:pt>
                  <c:pt idx="4">
                    <c:v>LSTM</c:v>
                  </c:pt>
                  <c:pt idx="5">
                    <c:v>BERT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81.4</c:v>
                </c:pt>
                <c:pt idx="1">
                  <c:v>87.6</c:v>
                </c:pt>
                <c:pt idx="2">
                  <c:v>90.2</c:v>
                </c:pt>
                <c:pt idx="3">
                  <c:v>91.5</c:v>
                </c:pt>
                <c:pt idx="4">
                  <c:v>93.1</c:v>
                </c:pt>
                <c:pt idx="5">
                  <c:v>95.8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DD9E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b"/>
        <c:majorGridlines>
          <c:spPr>
            <a:ln w="6350" cap="flat">
              <a:solidFill>
                <a:srgbClr val="1E27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DD9E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CDD9E5"/>
                </a:solidFill>
                <a:latin typeface="Arial"/>
              </a:defRPr>
            </a:pPr>
            <a:r>
              <a:rPr sz="1300" b="0" i="0" u="none" strike="noStrike">
                <a:solidFill>
                  <a:srgbClr val="CDD9E5"/>
                </a:solidFill>
                <a:latin typeface="Arial"/>
              </a:rPr>
              <a:t>Review Sentiment Breakdown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6D364"/>
              </a:solidFill>
              <a:effectLst/>
            </c:spPr>
          </c:dPt>
          <c:dPt>
            <c:idx val="1"/>
            <c:bubble3D val="0"/>
            <c:spPr>
              <a:solidFill>
                <a:srgbClr val="E3B341"/>
              </a:solidFill>
              <a:effectLst/>
            </c:spPr>
          </c:dPt>
          <c:dPt>
            <c:idx val="2"/>
            <c:bubble3D val="0"/>
            <c:spPr>
              <a:solidFill>
                <a:srgbClr val="F8514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21</c:v>
                </c:pt>
                <c:pt idx="2">
                  <c:v>17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CDD9E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hyperlink" Target="https://sentiment-analysis-of-appuct-reviews-wcvcg2zjkk3o8vb65ilejy.streamlit.app/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F78C6C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7EC8E3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109728" cy="2560320"/>
          </a:xfrm>
          <a:prstGeom prst="rect">
            <a:avLst/>
          </a:prstGeom>
          <a:solidFill>
            <a:srgbClr val="F78C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98448"/>
            <a:ext cx="1965960" cy="347472"/>
          </a:xfrm>
          <a:prstGeom prst="rect">
            <a:avLst/>
          </a:prstGeom>
          <a:solidFill>
            <a:srgbClr val="F78C6C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MACHINE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SENTIMENT ANALYSIS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200" kern="0" dirty="0">
                <a:solidFill>
                  <a:srgbClr val="F78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PRODUCT REVIEWS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33649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Customer Voice with NLP &amp; Predictive Analytics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913632"/>
            <a:ext cx="1325880" cy="347472"/>
          </a:xfrm>
          <a:prstGeom prst="rect">
            <a:avLst/>
          </a:prstGeom>
          <a:solidFill>
            <a:srgbClr val="56D364">
              <a:alpha val="30000"/>
            </a:srgbClr>
          </a:solidFill>
          <a:ln w="12700">
            <a:solidFill>
              <a:srgbClr val="56D364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931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74520" y="3913632"/>
            <a:ext cx="1325880" cy="347472"/>
          </a:xfrm>
          <a:prstGeom prst="rect">
            <a:avLst/>
          </a:prstGeom>
          <a:solidFill>
            <a:srgbClr val="E3B341">
              <a:alpha val="30000"/>
            </a:srgbClr>
          </a:solidFill>
          <a:ln w="12700">
            <a:solidFill>
              <a:srgbClr val="E3B341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931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3913632"/>
            <a:ext cx="1325880" cy="347472"/>
          </a:xfrm>
          <a:prstGeom prst="rect">
            <a:avLst/>
          </a:prstGeom>
          <a:solidFill>
            <a:srgbClr val="F85149">
              <a:alpha val="30000"/>
            </a:srgbClr>
          </a:solidFill>
          <a:ln w="12700">
            <a:solidFill>
              <a:srgbClr val="F85149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9319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548640"/>
            <a:ext cx="1280160" cy="12801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lekshmipriya04 / Sentiment-Analysis-of-Product-Reviews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78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069080" cy="1051560"/>
          </a:xfrm>
          <a:prstGeom prst="rect">
            <a:avLst/>
          </a:prstGeom>
          <a:solidFill>
            <a:srgbClr val="1E2730"/>
          </a:solidFill>
          <a:ln w="12700">
            <a:solidFill>
              <a:srgbClr val="F78C6C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73152" cy="1051560"/>
          </a:xfrm>
          <a:prstGeom prst="rect">
            <a:avLst/>
          </a:prstGeom>
          <a:solidFill>
            <a:srgbClr val="F78C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8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653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automated sentiment analysis?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350008"/>
            <a:ext cx="4069080" cy="1051560"/>
          </a:xfrm>
          <a:prstGeom prst="rect">
            <a:avLst/>
          </a:prstGeom>
          <a:solidFill>
            <a:srgbClr val="1E2730"/>
          </a:solidFill>
          <a:ln w="12700">
            <a:solidFill>
              <a:srgbClr val="7EC8E3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50008"/>
            <a:ext cx="73152" cy="1051560"/>
          </a:xfrm>
          <a:prstGeom prst="rect">
            <a:avLst/>
          </a:prstGeom>
          <a:solidFill>
            <a:srgbClr val="7EC8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048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EC8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807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998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 dataset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84448"/>
            <a:ext cx="4069080" cy="1051560"/>
          </a:xfrm>
          <a:prstGeom prst="rect">
            <a:avLst/>
          </a:prstGeom>
          <a:solidFill>
            <a:srgbClr val="1E2730"/>
          </a:solidFill>
          <a:ln w="12700">
            <a:solidFill>
              <a:srgbClr val="A8D8A8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584448"/>
            <a:ext cx="73152" cy="1051560"/>
          </a:xfrm>
          <a:prstGeom prst="rect">
            <a:avLst/>
          </a:prstGeom>
          <a:solidFill>
            <a:srgbClr val="A8D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393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D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40416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334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 &amp; model training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15568"/>
            <a:ext cx="4069080" cy="1051560"/>
          </a:xfrm>
          <a:prstGeom prst="rect">
            <a:avLst/>
          </a:prstGeom>
          <a:solidFill>
            <a:srgbClr val="1E2730"/>
          </a:solidFill>
          <a:ln w="12700">
            <a:solidFill>
              <a:srgbClr val="56D364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15568"/>
            <a:ext cx="73152" cy="1051560"/>
          </a:xfrm>
          <a:prstGeom prst="rect">
            <a:avLst/>
          </a:prstGeom>
          <a:solidFill>
            <a:srgbClr val="56D3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1704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6D36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92040" y="15727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Results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18653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&amp; 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350008"/>
            <a:ext cx="4069080" cy="1051560"/>
          </a:xfrm>
          <a:prstGeom prst="rect">
            <a:avLst/>
          </a:prstGeom>
          <a:solidFill>
            <a:srgbClr val="1E2730"/>
          </a:solidFill>
          <a:ln w="12700">
            <a:solidFill>
              <a:srgbClr val="E3B341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50008"/>
            <a:ext cx="73152" cy="1051560"/>
          </a:xfrm>
          <a:prstGeom prst="rect">
            <a:avLst/>
          </a:prstGeom>
          <a:solidFill>
            <a:srgbClr val="E3B34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4048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3B3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92040" y="28072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30998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best-performing model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84448"/>
            <a:ext cx="4069080" cy="1051560"/>
          </a:xfrm>
          <a:prstGeom prst="rect">
            <a:avLst/>
          </a:prstGeom>
          <a:solidFill>
            <a:srgbClr val="1E2730"/>
          </a:solidFill>
          <a:ln w="12700">
            <a:solidFill>
              <a:srgbClr val="F85149">
                <a:alpha val="2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84448"/>
            <a:ext cx="73152" cy="1051560"/>
          </a:xfrm>
          <a:prstGeom prst="rect">
            <a:avLst/>
          </a:prstGeom>
          <a:solidFill>
            <a:srgbClr val="F8514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6393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51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92040" y="40416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92040" y="4334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and future 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8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2331720"/>
          </a:xfrm>
          <a:prstGeom prst="rect">
            <a:avLst/>
          </a:prstGeom>
          <a:solidFill>
            <a:srgbClr val="1E2730"/>
          </a:solidFill>
          <a:ln w="12700">
            <a:solidFill>
              <a:srgbClr val="F78C6C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78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2.5M+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reviews posted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Amazon daily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724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6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(Statista, 2024)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0972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1572768"/>
            <a:ext cx="5577840" cy="804672"/>
          </a:xfrm>
          <a:prstGeom prst="rect">
            <a:avLst/>
          </a:prstGeom>
          <a:solidFill>
            <a:srgbClr val="1E2730"/>
          </a:solidFill>
          <a:ln w="12700">
            <a:solidFill>
              <a:srgbClr val="F85149">
                <a:alpha val="2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572768"/>
            <a:ext cx="73152" cy="804672"/>
          </a:xfrm>
          <a:prstGeom prst="rect">
            <a:avLst/>
          </a:prstGeom>
          <a:solidFill>
            <a:srgbClr val="F8514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6704" y="1755648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840480" y="16276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Is Infeasible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40480" y="19751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unstructured reviews cannot be processed by hand at scale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2505456"/>
            <a:ext cx="5577840" cy="804672"/>
          </a:xfrm>
          <a:prstGeom prst="rect">
            <a:avLst/>
          </a:prstGeom>
          <a:solidFill>
            <a:srgbClr val="1E2730"/>
          </a:solidFill>
          <a:ln w="12700">
            <a:solidFill>
              <a:srgbClr val="F78C6C">
                <a:alpha val="2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2505456"/>
            <a:ext cx="73152" cy="804672"/>
          </a:xfrm>
          <a:prstGeom prst="rect">
            <a:avLst/>
          </a:prstGeom>
          <a:solidFill>
            <a:srgbClr val="F78C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2688336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40480" y="2560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&amp; Ambiguity in Text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840480" y="29077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Sarcasm, slang, and mixed opinions make rule-based approaches unreliable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00400" y="3438144"/>
            <a:ext cx="5577840" cy="804672"/>
          </a:xfrm>
          <a:prstGeom prst="rect">
            <a:avLst/>
          </a:prstGeom>
          <a:solidFill>
            <a:srgbClr val="1E2730"/>
          </a:solidFill>
          <a:ln w="12700">
            <a:solidFill>
              <a:srgbClr val="7EC8E3">
                <a:alpha val="2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0" y="3438144"/>
            <a:ext cx="73152" cy="804672"/>
          </a:xfrm>
          <a:prstGeom prst="rect">
            <a:avLst/>
          </a:prstGeom>
          <a:solidFill>
            <a:srgbClr val="7EC8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4" y="3621024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40480" y="34930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 Lag Behind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840480" y="3840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lack real-time insight into product-specific customer feedback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65760" y="4389120"/>
            <a:ext cx="8412480" cy="566928"/>
          </a:xfrm>
          <a:prstGeom prst="rect">
            <a:avLst/>
          </a:prstGeom>
          <a:solidFill>
            <a:srgbClr val="0F2318"/>
          </a:solidFill>
          <a:ln w="12700">
            <a:solidFill>
              <a:srgbClr val="56D364">
                <a:alpha val="55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02920" y="44531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NLP + ML pipeline to automatically classify product reviews as Positive, Neutral, or Negative — at scale and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8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DATASET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1024128"/>
          </a:xfrm>
          <a:prstGeom prst="rect">
            <a:avLst/>
          </a:prstGeom>
          <a:solidFill>
            <a:srgbClr val="1E2730"/>
          </a:solidFill>
          <a:ln w="12700">
            <a:solidFill>
              <a:srgbClr val="F78C6C">
                <a:alpha val="3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704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8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568K+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7099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1965960" cy="1024128"/>
          </a:xfrm>
          <a:prstGeom prst="rect">
            <a:avLst/>
          </a:prstGeom>
          <a:solidFill>
            <a:srgbClr val="1E2730"/>
          </a:solidFill>
          <a:ln w="12700">
            <a:solidFill>
              <a:srgbClr val="7EC8E3">
                <a:alpha val="3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1704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EC8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1–5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7099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097280"/>
            <a:ext cx="1965960" cy="1024128"/>
          </a:xfrm>
          <a:prstGeom prst="rect">
            <a:avLst/>
          </a:prstGeom>
          <a:solidFill>
            <a:srgbClr val="1E2730"/>
          </a:solidFill>
          <a:ln w="12700">
            <a:solidFill>
              <a:srgbClr val="A8D8A8">
                <a:alpha val="3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1704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D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Classes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17099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/ Neu / Neg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965960" cy="1024128"/>
          </a:xfrm>
          <a:prstGeom prst="rect">
            <a:avLst/>
          </a:prstGeom>
          <a:solidFill>
            <a:srgbClr val="1E2730"/>
          </a:solidFill>
          <a:ln w="12700">
            <a:solidFill>
              <a:srgbClr val="E3B341">
                <a:alpha val="3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1704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B3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Amazon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17099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Labelling Strategy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2816352"/>
            <a:ext cx="4206240" cy="548640"/>
          </a:xfrm>
          <a:prstGeom prst="rect">
            <a:avLst/>
          </a:prstGeom>
          <a:solidFill>
            <a:srgbClr val="1E2730"/>
          </a:solidFill>
          <a:ln w="12700">
            <a:solidFill>
              <a:srgbClr val="56D364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16352"/>
            <a:ext cx="73152" cy="548640"/>
          </a:xfrm>
          <a:prstGeom prst="rect">
            <a:avLst/>
          </a:prstGeom>
          <a:solidFill>
            <a:srgbClr val="56D3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926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5 Stars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26080" y="2907792"/>
            <a:ext cx="1417320" cy="347472"/>
          </a:xfrm>
          <a:prstGeom prst="rect">
            <a:avLst/>
          </a:prstGeom>
          <a:solidFill>
            <a:srgbClr val="56D36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29352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74720"/>
            <a:ext cx="4206240" cy="548640"/>
          </a:xfrm>
          <a:prstGeom prst="rect">
            <a:avLst/>
          </a:prstGeom>
          <a:solidFill>
            <a:srgbClr val="1E2730"/>
          </a:solidFill>
          <a:ln w="12700">
            <a:solidFill>
              <a:srgbClr val="E3B341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474720"/>
            <a:ext cx="73152" cy="548640"/>
          </a:xfrm>
          <a:prstGeom prst="rect">
            <a:avLst/>
          </a:prstGeom>
          <a:solidFill>
            <a:srgbClr val="E3B34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5844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26080" y="3566160"/>
            <a:ext cx="1417320" cy="347472"/>
          </a:xfrm>
          <a:prstGeom prst="rect">
            <a:avLst/>
          </a:prstGeom>
          <a:solidFill>
            <a:srgbClr val="E3B341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35935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133088"/>
            <a:ext cx="4206240" cy="548640"/>
          </a:xfrm>
          <a:prstGeom prst="rect">
            <a:avLst/>
          </a:prstGeom>
          <a:solidFill>
            <a:srgbClr val="1E2730"/>
          </a:solidFill>
          <a:ln w="12700">
            <a:solidFill>
              <a:srgbClr val="F85149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133088"/>
            <a:ext cx="73152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42428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 Stars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26080" y="4224528"/>
            <a:ext cx="1417320" cy="347472"/>
          </a:xfrm>
          <a:prstGeom prst="rect">
            <a:avLst/>
          </a:prstGeom>
          <a:solidFill>
            <a:srgbClr val="F85149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4251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 Pipeline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846320" y="2816352"/>
            <a:ext cx="3931920" cy="420624"/>
          </a:xfrm>
          <a:prstGeom prst="rect">
            <a:avLst/>
          </a:prstGeom>
          <a:solidFill>
            <a:srgbClr val="1E2730"/>
          </a:solidFill>
          <a:ln w="12700">
            <a:solidFill>
              <a:srgbClr val="7EC8E3">
                <a:alpha val="2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92040" y="2907792"/>
            <a:ext cx="237744" cy="237744"/>
          </a:xfrm>
          <a:prstGeom prst="ellipse">
            <a:avLst/>
          </a:prstGeom>
          <a:solidFill>
            <a:srgbClr val="7EC8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907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93792" y="290779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 &amp; Punctuation Removal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3291840"/>
            <a:ext cx="3931920" cy="420624"/>
          </a:xfrm>
          <a:prstGeom prst="rect">
            <a:avLst/>
          </a:prstGeom>
          <a:solidFill>
            <a:srgbClr val="1E2730"/>
          </a:solidFill>
          <a:ln w="12700">
            <a:solidFill>
              <a:srgbClr val="7EC8E3">
                <a:alpha val="2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92040" y="3383280"/>
            <a:ext cx="237744" cy="237744"/>
          </a:xfrm>
          <a:prstGeom prst="ellipse">
            <a:avLst/>
          </a:prstGeom>
          <a:solidFill>
            <a:srgbClr val="7EC8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383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93792" y="33832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Stop-word Filtering (NLTK)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46320" y="3767328"/>
            <a:ext cx="3931920" cy="420624"/>
          </a:xfrm>
          <a:prstGeom prst="rect">
            <a:avLst/>
          </a:prstGeom>
          <a:solidFill>
            <a:srgbClr val="1E2730"/>
          </a:solidFill>
          <a:ln w="12700">
            <a:solidFill>
              <a:srgbClr val="7EC8E3">
                <a:alpha val="2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92040" y="3858768"/>
            <a:ext cx="237744" cy="237744"/>
          </a:xfrm>
          <a:prstGeom prst="ellipse">
            <a:avLst/>
          </a:prstGeom>
          <a:solidFill>
            <a:srgbClr val="7EC8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858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93792" y="385876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/ Lemmatization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46320" y="4242816"/>
            <a:ext cx="3931920" cy="420624"/>
          </a:xfrm>
          <a:prstGeom prst="rect">
            <a:avLst/>
          </a:prstGeom>
          <a:solidFill>
            <a:srgbClr val="1E2730"/>
          </a:solidFill>
          <a:ln w="12700">
            <a:solidFill>
              <a:srgbClr val="7EC8E3">
                <a:alpha val="2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92040" y="4334256"/>
            <a:ext cx="237744" cy="237744"/>
          </a:xfrm>
          <a:prstGeom prst="ellipse">
            <a:avLst/>
          </a:prstGeom>
          <a:solidFill>
            <a:srgbClr val="7EC8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43342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93792" y="433425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&amp; Bag-of-Words Vectorization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846320" y="4718304"/>
            <a:ext cx="3931920" cy="420624"/>
          </a:xfrm>
          <a:prstGeom prst="rect">
            <a:avLst/>
          </a:prstGeom>
          <a:solidFill>
            <a:srgbClr val="1E2730"/>
          </a:solidFill>
          <a:ln w="12700">
            <a:solidFill>
              <a:srgbClr val="7EC8E3">
                <a:alpha val="2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92040" y="4809744"/>
            <a:ext cx="237744" cy="237744"/>
          </a:xfrm>
          <a:prstGeom prst="ellipse">
            <a:avLst/>
          </a:prstGeom>
          <a:solidFill>
            <a:srgbClr val="7EC8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4809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93792" y="480974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 (70/15/15)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8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188720"/>
            <a:ext cx="1572768" cy="3474720"/>
          </a:xfrm>
          <a:prstGeom prst="rect">
            <a:avLst/>
          </a:prstGeom>
          <a:solidFill>
            <a:srgbClr val="1E2730"/>
          </a:solidFill>
          <a:ln w="12700">
            <a:solidFill>
              <a:srgbClr val="F78C6C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188720"/>
            <a:ext cx="1572768" cy="91440"/>
          </a:xfrm>
          <a:prstGeom prst="rect">
            <a:avLst/>
          </a:prstGeom>
          <a:solidFill>
            <a:srgbClr val="F78C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17320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204825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78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2880" y="23774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2871216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(CSV, star ratings 1–5)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65376" y="1188720"/>
            <a:ext cx="1572768" cy="3474720"/>
          </a:xfrm>
          <a:prstGeom prst="rect">
            <a:avLst/>
          </a:prstGeom>
          <a:solidFill>
            <a:srgbClr val="1E2730"/>
          </a:solidFill>
          <a:ln w="12700">
            <a:solidFill>
              <a:srgbClr val="7EC8E3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865376" y="1188720"/>
            <a:ext cx="1572768" cy="91440"/>
          </a:xfrm>
          <a:prstGeom prst="rect">
            <a:avLst/>
          </a:prstGeom>
          <a:solidFill>
            <a:srgbClr val="7EC8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1417320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65376" y="204825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EC8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865376" y="23774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956816" y="2871216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tokenize, remove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stop-words, lemmatize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547872" y="1188720"/>
            <a:ext cx="1572768" cy="3474720"/>
          </a:xfrm>
          <a:prstGeom prst="rect">
            <a:avLst/>
          </a:prstGeom>
          <a:solidFill>
            <a:srgbClr val="1E2730"/>
          </a:solidFill>
          <a:ln w="12700">
            <a:solidFill>
              <a:srgbClr val="A8D8A8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547872" y="1188720"/>
            <a:ext cx="1572768" cy="91440"/>
          </a:xfrm>
          <a:prstGeom prst="rect">
            <a:avLst/>
          </a:prstGeom>
          <a:solidFill>
            <a:srgbClr val="A8D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1417320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47872" y="204825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D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547872" y="23774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639312" y="2871216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BoW, word embeddings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230368" y="1188720"/>
            <a:ext cx="1572768" cy="3474720"/>
          </a:xfrm>
          <a:prstGeom prst="rect">
            <a:avLst/>
          </a:prstGeom>
          <a:solidFill>
            <a:srgbClr val="1E2730"/>
          </a:solidFill>
          <a:ln w="12700">
            <a:solidFill>
              <a:srgbClr val="E3B341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230368" y="1188720"/>
            <a:ext cx="1572768" cy="91440"/>
          </a:xfrm>
          <a:prstGeom prst="rect">
            <a:avLst/>
          </a:prstGeom>
          <a:solidFill>
            <a:srgbClr val="E3B34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417320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30368" y="204825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3B3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230368" y="23774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321808" y="2871216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Reg., Naive Bayes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LSTM, BERT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912864" y="1188720"/>
            <a:ext cx="1572768" cy="3474720"/>
          </a:xfrm>
          <a:prstGeom prst="rect">
            <a:avLst/>
          </a:prstGeom>
          <a:solidFill>
            <a:srgbClr val="1E2730"/>
          </a:solidFill>
          <a:ln w="12700">
            <a:solidFill>
              <a:srgbClr val="56D364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912864" y="1188720"/>
            <a:ext cx="1572768" cy="91440"/>
          </a:xfrm>
          <a:prstGeom prst="rect">
            <a:avLst/>
          </a:prstGeom>
          <a:solidFill>
            <a:srgbClr val="56D3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1417320"/>
            <a:ext cx="512064" cy="51206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12864" y="204825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56D36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912864" y="2377440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Evaluate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004304" y="2871216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confusion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— Streamlit app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8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MODELS &amp; RESULTS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9728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097280"/>
          <a:ext cx="2926080" cy="2852928"/>
        </p:xfrm>
        <a:graphic>
          <a:graphicData uri="http://schemas.openxmlformats.org/drawingml/2006/table">
            <a:tbl>
              <a:tblPr/>
              <a:tblGrid>
                <a:gridCol w="1051560"/>
                <a:gridCol w="594360"/>
                <a:gridCol w="594360"/>
                <a:gridCol w="685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6D3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6D3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DD9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78C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6D3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6D3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51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8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30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4041648"/>
            <a:ext cx="2926080" cy="896112"/>
          </a:xfrm>
          <a:prstGeom prst="rect">
            <a:avLst/>
          </a:prstGeom>
          <a:solidFill>
            <a:srgbClr val="0F2318"/>
          </a:solidFill>
          <a:ln w="12700">
            <a:solidFill>
              <a:srgbClr val="56D364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4114800"/>
            <a:ext cx="347472" cy="3474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0" y="41148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BERT Transformer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5989320" y="4480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 accuracy  ·  F1: 0.956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8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SENTIMENT DISTRIBUTION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51560"/>
          <a:ext cx="4389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097280"/>
            <a:ext cx="3840480" cy="1170432"/>
          </a:xfrm>
          <a:prstGeom prst="rect">
            <a:avLst/>
          </a:prstGeom>
          <a:solidFill>
            <a:srgbClr val="1E2730"/>
          </a:solidFill>
          <a:ln w="12700">
            <a:solidFill>
              <a:srgbClr val="56D364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937760" y="1097280"/>
            <a:ext cx="73152" cy="1170432"/>
          </a:xfrm>
          <a:prstGeom prst="rect">
            <a:avLst/>
          </a:prstGeom>
          <a:solidFill>
            <a:srgbClr val="56D3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1243584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96128" y="117043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6D36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291072" y="11704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84064" y="17556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reflect strong product satisfaction. Fast delivery and product quality are top themes.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937760" y="2404872"/>
            <a:ext cx="3840480" cy="1170432"/>
          </a:xfrm>
          <a:prstGeom prst="rect">
            <a:avLst/>
          </a:prstGeom>
          <a:solidFill>
            <a:srgbClr val="1E2730"/>
          </a:solidFill>
          <a:ln w="12700">
            <a:solidFill>
              <a:srgbClr val="E3B341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37760" y="2404872"/>
            <a:ext cx="73152" cy="1170432"/>
          </a:xfrm>
          <a:prstGeom prst="rect">
            <a:avLst/>
          </a:prstGeom>
          <a:solidFill>
            <a:srgbClr val="E3B34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551176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96128" y="2478024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B3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21%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6291072" y="247802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Reviews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084064" y="30632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feedback — customers see both pros and cons, often related to price-value tradeoff.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937760" y="3712464"/>
            <a:ext cx="3840480" cy="1170432"/>
          </a:xfrm>
          <a:prstGeom prst="rect">
            <a:avLst/>
          </a:prstGeom>
          <a:solidFill>
            <a:srgbClr val="1E2730"/>
          </a:solidFill>
          <a:ln w="12700">
            <a:solidFill>
              <a:srgbClr val="F85149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937760" y="3712464"/>
            <a:ext cx="73152" cy="1170432"/>
          </a:xfrm>
          <a:prstGeom prst="rect">
            <a:avLst/>
          </a:prstGeom>
          <a:solidFill>
            <a:srgbClr val="F8514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3858768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96128" y="378561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51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17%</a:t>
            </a:r>
            <a:endParaRPr lang="en-US" sz="2600" dirty="0"/>
          </a:p>
        </p:txBody>
      </p:sp>
      <p:sp>
        <p:nvSpPr>
          <p:cNvPr id="21" name="Text 15"/>
          <p:cNvSpPr/>
          <p:nvPr/>
        </p:nvSpPr>
        <p:spPr>
          <a:xfrm>
            <a:off x="6291072" y="37856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084064" y="43708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points: delivery delays, defective items, and misleading product descriptions.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8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4133088" cy="1737360"/>
          </a:xfrm>
          <a:prstGeom prst="rect">
            <a:avLst/>
          </a:prstGeom>
          <a:solidFill>
            <a:srgbClr val="1E2730"/>
          </a:solidFill>
          <a:ln w="12700">
            <a:solidFill>
              <a:srgbClr val="F78C6C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73152" cy="1737360"/>
          </a:xfrm>
          <a:prstGeom prst="rect">
            <a:avLst/>
          </a:prstGeom>
          <a:solidFill>
            <a:srgbClr val="F78C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9844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070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Outperforms All Classical Models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" y="18928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transformers capture context, sarcasm and nuance that classical ML misses on product review text.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3035808"/>
            <a:ext cx="4133088" cy="1737360"/>
          </a:xfrm>
          <a:prstGeom prst="rect">
            <a:avLst/>
          </a:prstGeom>
          <a:solidFill>
            <a:srgbClr val="1E2730"/>
          </a:solidFill>
          <a:ln w="12700">
            <a:solidFill>
              <a:srgbClr val="7EC8E3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3035808"/>
            <a:ext cx="73152" cy="1737360"/>
          </a:xfrm>
          <a:prstGeom prst="rect">
            <a:avLst/>
          </a:prstGeom>
          <a:solidFill>
            <a:srgbClr val="7EC8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321868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31272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Reg. as Strong Baseline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632" y="38130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87.6% accuracy with minimal compute cost — suitable for real-time inference at scale.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73168" y="1115568"/>
            <a:ext cx="4133088" cy="1737360"/>
          </a:xfrm>
          <a:prstGeom prst="rect">
            <a:avLst/>
          </a:prstGeom>
          <a:solidFill>
            <a:srgbClr val="1E2730"/>
          </a:solidFill>
          <a:ln w="12700">
            <a:solidFill>
              <a:srgbClr val="56D364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73168" y="1115568"/>
            <a:ext cx="73152" cy="1737360"/>
          </a:xfrm>
          <a:prstGeom prst="rect">
            <a:avLst/>
          </a:prstGeom>
          <a:solidFill>
            <a:srgbClr val="56D3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9844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04688" y="12070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Handled via SMOTE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937760" y="18928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 of negative &amp; neutral classes improved minority class recall by ~12% over unbalanced training.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73168" y="3035808"/>
            <a:ext cx="4133088" cy="1737360"/>
          </a:xfrm>
          <a:prstGeom prst="rect">
            <a:avLst/>
          </a:prstGeom>
          <a:solidFill>
            <a:srgbClr val="1E2730"/>
          </a:solidFill>
          <a:ln w="12700">
            <a:solidFill>
              <a:srgbClr val="E3B341">
                <a:alpha val="3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73168" y="3035808"/>
            <a:ext cx="73152" cy="1737360"/>
          </a:xfrm>
          <a:prstGeom prst="rect">
            <a:avLst/>
          </a:prstGeom>
          <a:solidFill>
            <a:srgbClr val="E3B34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1868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04688" y="31272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Streamlit Deployment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937760" y="38130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is served through an interactive app, accepting single reviews or bulk CSV uploads.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8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749808"/>
          </a:xfrm>
          <a:prstGeom prst="rect">
            <a:avLst/>
          </a:prstGeom>
          <a:solidFill>
            <a:srgbClr val="1E2730"/>
          </a:solidFill>
          <a:ln w="12700">
            <a:solidFill>
              <a:srgbClr val="F78C6C">
                <a:alpha val="30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33856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automates sentiment classification of product reviews using NLP and machine learning, achieving up to 95.8% accuracy with BERT — enabling e-commerce platforms and businesses to extract actionable customer insights in real time.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487168"/>
            <a:ext cx="201168" cy="201168"/>
          </a:xfrm>
          <a:prstGeom prst="ellipse">
            <a:avLst/>
          </a:prstGeom>
          <a:solidFill>
            <a:srgbClr val="56D3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 accuracy with BERT transformer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008376"/>
            <a:ext cx="201168" cy="201168"/>
          </a:xfrm>
          <a:prstGeom prst="ellipse">
            <a:avLst/>
          </a:prstGeom>
          <a:solidFill>
            <a:srgbClr val="56D3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90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Reg. as fast baseline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529584"/>
            <a:ext cx="201168" cy="201168"/>
          </a:xfrm>
          <a:prstGeom prst="ellipse">
            <a:avLst/>
          </a:prstGeom>
          <a:solidFill>
            <a:srgbClr val="56D3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511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improves minority class recall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50792"/>
            <a:ext cx="201168" cy="201168"/>
          </a:xfrm>
          <a:prstGeom prst="ellipse">
            <a:avLst/>
          </a:prstGeom>
          <a:solidFill>
            <a:srgbClr val="56D3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032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app for real-time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2487168"/>
            <a:ext cx="201168" cy="20116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Aspect-based sentiment (per feature)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008376"/>
            <a:ext cx="201168" cy="20116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7488" y="2990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review analysis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529584"/>
            <a:ext cx="201168" cy="20116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3511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brand monitoring dashboard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4050792"/>
            <a:ext cx="201168" cy="20116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40325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via LIME / SHAP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61B2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8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github.com/lekshmipriya04/Sentiment-Analysis-of-Product-Reviews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F78C6C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200400"/>
            <a:ext cx="3840480" cy="3840480"/>
          </a:xfrm>
          <a:prstGeom prst="ellipse">
            <a:avLst/>
          </a:prstGeom>
          <a:solidFill>
            <a:srgbClr val="7EC8E3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56032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91840" y="1737360"/>
            <a:ext cx="2560320" cy="45720"/>
          </a:xfrm>
          <a:prstGeom prst="rect">
            <a:avLst/>
          </a:prstGeom>
          <a:solidFill>
            <a:srgbClr val="F78C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20240"/>
            <a:ext cx="4114800" cy="2788920"/>
          </a:xfrm>
          <a:prstGeom prst="rect">
            <a:avLst/>
          </a:prstGeom>
          <a:solidFill>
            <a:srgbClr val="1E2730"/>
          </a:solidFill>
          <a:ln w="12700">
            <a:solidFill>
              <a:srgbClr val="F78C6C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73152" cy="2788920"/>
          </a:xfrm>
          <a:prstGeom prst="rect">
            <a:avLst/>
          </a:prstGeom>
          <a:solidFill>
            <a:srgbClr val="F78C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99339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0976" y="1993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8C6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0352" y="2532888"/>
            <a:ext cx="182880" cy="182880"/>
          </a:xfrm>
          <a:prstGeom prst="ellipse">
            <a:avLst/>
          </a:prstGeom>
          <a:solidFill>
            <a:srgbClr val="F78C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5054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R. Lekshmi Priya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30352" y="3127248"/>
            <a:ext cx="182880" cy="182880"/>
          </a:xfrm>
          <a:prstGeom prst="ellipse">
            <a:avLst/>
          </a:prstGeom>
          <a:solidFill>
            <a:srgbClr val="F78C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30998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Yazin 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30352" y="3721608"/>
            <a:ext cx="182880" cy="182880"/>
          </a:xfrm>
          <a:prstGeom prst="ellipse">
            <a:avLst/>
          </a:prstGeom>
          <a:solidFill>
            <a:srgbClr val="F78C6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36941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Rehan Biju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63440" y="1920240"/>
            <a:ext cx="4114800" cy="1261872"/>
          </a:xfrm>
          <a:prstGeom prst="rect">
            <a:avLst/>
          </a:prstGeom>
          <a:solidFill>
            <a:srgbClr val="1E2730"/>
          </a:solidFill>
          <a:ln w="12700">
            <a:solidFill>
              <a:srgbClr val="A8D8A8">
                <a:alpha val="38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1920240"/>
            <a:ext cx="73152" cy="1261872"/>
          </a:xfrm>
          <a:prstGeom prst="rect">
            <a:avLst/>
          </a:prstGeom>
          <a:solidFill>
            <a:srgbClr val="A8D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993392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48656" y="1993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D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MENTOR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828032" y="2532888"/>
            <a:ext cx="182880" cy="182880"/>
          </a:xfrm>
          <a:prstGeom prst="ellipse">
            <a:avLst/>
          </a:prstGeom>
          <a:solidFill>
            <a:srgbClr val="A8D8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102352" y="250545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Aswin VS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102352" y="28163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D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Mentor &amp; Guide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663440" y="3337560"/>
            <a:ext cx="4114800" cy="1371600"/>
          </a:xfrm>
          <a:prstGeom prst="rect">
            <a:avLst/>
          </a:prstGeom>
          <a:solidFill>
            <a:srgbClr val="0F2015"/>
          </a:solidFill>
          <a:ln w="12700">
            <a:solidFill>
              <a:srgbClr val="56D364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663440" y="3337560"/>
            <a:ext cx="73152" cy="1371600"/>
          </a:xfrm>
          <a:prstGeom prst="rect">
            <a:avLst/>
          </a:prstGeom>
          <a:solidFill>
            <a:srgbClr val="56D3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410712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48656" y="34107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6D36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28" name="Text 23">
            <a:hlinkClick r:id="rId4" tooltip=""/>
          </p:cNvPr>
          <p:cNvSpPr/>
          <p:nvPr/>
        </p:nvSpPr>
        <p:spPr>
          <a:xfrm>
            <a:off x="4828032" y="3822192"/>
            <a:ext cx="3822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sentiment-analysis-of-appuct-reviews</a:t>
            </a:r>
            <a:endParaRPr lang="en-US" sz="1000" dirty="0"/>
          </a:p>
          <a:p>
            <a:pPr indent="0" marL="0">
              <a:buNone/>
            </a:pPr>
            <a:r>
              <a:rPr lang="en-US" sz="1000" u="sng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-wcvcg2zjkk3o8vb65ilejy.streamlit.app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Product Reviews</dc:title>
  <dc:subject>PptxGenJS Presentation</dc:subject>
  <dc:creator>PptxGenJS</dc:creator>
  <cp:lastModifiedBy>PptxGenJS</cp:lastModifiedBy>
  <cp:revision>1</cp:revision>
  <dcterms:created xsi:type="dcterms:W3CDTF">2026-05-15T18:23:08Z</dcterms:created>
  <dcterms:modified xsi:type="dcterms:W3CDTF">2026-05-15T18:23:08Z</dcterms:modified>
</cp:coreProperties>
</file>